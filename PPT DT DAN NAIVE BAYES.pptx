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DT depth=3</c:v>
                </c:pt>
                <c:pt idx="1">
                  <c:v>DT None</c:v>
                </c:pt>
                <c:pt idx="2">
                  <c:v>GaussianNB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</c:v>
                </c:pt>
                <c:pt idx="1">
                  <c:v>80</c:v>
                </c:pt>
                <c:pt idx="2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DT depth=3</c:v>
                </c:pt>
                <c:pt idx="1">
                  <c:v>DT None</c:v>
                </c:pt>
                <c:pt idx="2">
                  <c:v>GaussianNB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92.5</c:v>
                </c:pt>
                <c:pt idx="1">
                  <c:v>89.19</c:v>
                </c:pt>
                <c:pt idx="2">
                  <c:v>84.62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DT depth=3</c:v>
                </c:pt>
                <c:pt idx="1">
                  <c:v>DT None</c:v>
                </c:pt>
                <c:pt idx="2">
                  <c:v>GaussianNB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94.87</c:v>
                </c:pt>
                <c:pt idx="1">
                  <c:v>84.62</c:v>
                </c:pt>
                <c:pt idx="2">
                  <c:v>98.72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DT depth=3</c:v>
                </c:pt>
                <c:pt idx="1">
                  <c:v>DT None</c:v>
                </c:pt>
                <c:pt idx="2">
                  <c:v>GaussianNB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93.67</c:v>
                </c:pt>
                <c:pt idx="1">
                  <c:v>86.84</c:v>
                </c:pt>
                <c:pt idx="2">
                  <c:v>91.12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legend>
      <c:legendPos val="tr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F2647"/>
          </a:solidFill>
          <a:ln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1143000"/>
            <a:ext cx="384048" cy="384048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8360" y="1920240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1051560"/>
            <a:ext cx="502920" cy="502920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0" y="306324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61320" y="3657600"/>
            <a:ext cx="320040" cy="320040"/>
          </a:xfrm>
          <a:prstGeom prst="ellipse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32520" y="4709160"/>
            <a:ext cx="274320" cy="27432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961120" y="1554480"/>
            <a:ext cx="914400" cy="59436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875520" y="1371600"/>
            <a:ext cx="914400" cy="77724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464040" y="2148840"/>
            <a:ext cx="411480" cy="118872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869680" y="3337560"/>
            <a:ext cx="594360" cy="150876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64040" y="3337560"/>
            <a:ext cx="1234440" cy="548640"/>
          </a:xfrm>
          <a:prstGeom prst="line">
            <a:avLst/>
          </a:prstGeom>
          <a:ln w="254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6400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891B2"/>
                </a:solidFill>
                <a:latin typeface="Aptos"/>
              </a:rPr>
              <a:t>TUGAS MANDIRI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234440"/>
            <a:ext cx="70408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F2647"/>
                </a:solidFill>
                <a:latin typeface="Aptos"/>
              </a:rPr>
              <a:t>Analisis &amp; Implementasi
Decision Tree dan Naive Bayes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88036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475569"/>
                </a:solidFill>
                <a:latin typeface="Aptos"/>
              </a:rPr>
              <a:t>Prediksi Kelulusan Tepat Waktu Mahasiswa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94760"/>
            <a:ext cx="52120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68496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Abid Abdussalam — G1A024073
Rofid Fadhil — G1A024065
Achmad Rifky Akbar — G1A024091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Program Studi Informatika
Fakultas Teknik · Universitas Bengkulu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Machine Learning Dasar  |  Universitas Bengkulu  | 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Aptos"/>
              </a:rPr>
              <a:t>01 — DATA &amp; KONSEP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647"/>
                </a:solidFill>
                <a:latin typeface="Aptos"/>
              </a:rPr>
              <a:t>Dataset dan Persiapan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Data sintetis berjumlah 500 mahasiswa dengan 7 fitur prediktor.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574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84248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563EB"/>
                </a:solidFill>
                <a:latin typeface="Aptos"/>
              </a:rPr>
              <a:t>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Total mahasiswa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20574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36392" y="1984248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Aptos"/>
              </a:rPr>
              <a:t>388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239572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LULUS · 77,6%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828800"/>
            <a:ext cx="20574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8112" y="1984248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112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2395728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Aptos"/>
              </a:rPr>
              <a:t>TIDAK LULUS · 22,4%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34924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83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647"/>
                </a:solidFill>
                <a:latin typeface="Aptos"/>
              </a:rPr>
              <a:t>Fitur prediktor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9476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IPK · Kehadiran · Jam_Belajar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Organisasi · Penghasilan_Ortu</a:t>
            </a:r>
          </a:p>
          <a:p>
            <a:pPr>
              <a:spcAft>
                <a:spcPts val="500"/>
              </a:spcAft>
              <a:defRPr sz="1400">
                <a:solidFill>
                  <a:srgbClr val="0F172A"/>
                </a:solidFill>
                <a:latin typeface="Aptos"/>
              </a:defRPr>
            </a:pPr>
            <a:r>
              <a:t>Jenis_Kelamin · Status_Beasiswa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54680"/>
            <a:ext cx="525780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3832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647"/>
                </a:solidFill>
                <a:latin typeface="Aptos"/>
              </a:rPr>
              <a:t>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3767328"/>
            <a:ext cx="274320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3803904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7647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Missing value =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151376"/>
            <a:ext cx="274320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187952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16052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Encoding kategorik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10528" y="4535424"/>
            <a:ext cx="274320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8" y="457200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544568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Split 80:20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4919472"/>
            <a:ext cx="274320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956048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928616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Aptos"/>
              </a:rPr>
              <a:t>400 train · 100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Catatan konsep: IPK–Jam_Belajar dan IPK–Kehadiran berpotensi tidak independen.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Machine Learning Dasar  |  Universitas Bengkulu  | 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Aptos"/>
              </a:rPr>
              <a:t>02 — IMPLEMENTASI &amp; EVALUASI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647"/>
                </a:solidFill>
                <a:latin typeface="Aptos"/>
              </a:rPr>
              <a:t>Perbandingan Performa Tiga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Evaluasi dilakukan pada 100 data testing menggunakan empat metrik.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28800"/>
          <a:ext cx="740664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66760" y="1828800"/>
            <a:ext cx="3154680" cy="4069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1214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2647"/>
                </a:solidFill>
                <a:latin typeface="Aptos"/>
              </a:rPr>
              <a:t>Temuan utama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606040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DT max_depth=3 paling seimbang.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GaussianNB memiliki recall tertinggi: 98,72%.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DT max_depth=None menunjukkan indikasi overfitting.</a:t>
            </a:r>
          </a:p>
          <a:p>
            <a:pPr>
              <a:spcAft>
                <a:spcPts val="500"/>
              </a:spcAft>
              <a:defRPr sz="1300">
                <a:solidFill>
                  <a:srgbClr val="0F172A"/>
                </a:solidFill>
                <a:latin typeface="Aptos"/>
              </a:defRPr>
            </a:pPr>
            <a:r>
              <a:t>Akurasi DT depth=3: 90%.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1080" y="4892040"/>
            <a:ext cx="26060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502005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Aptos"/>
              </a:rPr>
              <a:t>Training DT None = 100%
Testing DT None = 80%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Machine Learning Dasar  |  Universitas Bengkulu  |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Aptos"/>
              </a:rPr>
              <a:t>03 — ANALISIS ERROR &amp; ETIKA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647"/>
                </a:solidFill>
                <a:latin typeface="Aptos"/>
              </a:rPr>
              <a:t>Confusion Matrix, Kesalahan, dan Risiko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Kesalahan prediksi perlu dianalisis sebelum model digunakan di lingkungan kampus.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2647"/>
                </a:solidFill>
                <a:latin typeface="Aptos"/>
              </a:rPr>
              <a:t>DT depth=3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19" y="2148840"/>
            <a:ext cx="1783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19" y="2148840"/>
            <a:ext cx="868680" cy="868680"/>
          </a:xfrm>
          <a:prstGeom prst="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51660" y="214884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51660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19" y="304038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51660" y="3040380"/>
            <a:ext cx="868680" cy="86868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1660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50791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ptos"/>
              </a:rPr>
              <a:t>Aktual ↓  |  Prediksi 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1783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2647"/>
                </a:solidFill>
                <a:latin typeface="Aptos"/>
              </a:rPr>
              <a:t>DT None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79" y="2148840"/>
            <a:ext cx="1783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79" y="2148840"/>
            <a:ext cx="868680" cy="868680"/>
          </a:xfrm>
          <a:prstGeom prst="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79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4820" y="214884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4820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79" y="304038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79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4820" y="3040380"/>
            <a:ext cx="868680" cy="86868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4820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66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050791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ptos"/>
              </a:rPr>
              <a:t>Aktual ↓  |  Prediksi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1783080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F2647"/>
                </a:solidFill>
                <a:latin typeface="Aptos"/>
              </a:rPr>
              <a:t>GaussianNB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06440" y="2148840"/>
            <a:ext cx="178308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06440" y="2148840"/>
            <a:ext cx="868680" cy="868680"/>
          </a:xfrm>
          <a:prstGeom prst="rect">
            <a:avLst/>
          </a:prstGeom>
          <a:solidFill>
            <a:srgbClr val="DBEAF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7979" y="214884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97979" y="239572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040380"/>
            <a:ext cx="868680" cy="868680"/>
          </a:xfrm>
          <a:prstGeom prst="rect">
            <a:avLst/>
          </a:prstGeom>
          <a:solidFill>
            <a:srgbClr val="FEE2E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7979" y="3040380"/>
            <a:ext cx="868680" cy="868680"/>
          </a:xfrm>
          <a:prstGeom prst="rect">
            <a:avLst/>
          </a:prstGeom>
          <a:solidFill>
            <a:srgbClr val="BBF7D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7979" y="3287268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F2647"/>
                </a:solidFill>
                <a:latin typeface="Aptos"/>
              </a:rPr>
              <a:t>77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15000" y="4050791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475569"/>
                </a:solidFill>
                <a:latin typeface="Aptos"/>
              </a:rPr>
              <a:t>Aktual ↓  |  Prediksi 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737360"/>
            <a:ext cx="3520440" cy="2331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19659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647"/>
                </a:solidFill>
                <a:latin typeface="Aptos"/>
              </a:rPr>
              <a:t>Analisis error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377440"/>
            <a:ext cx="2834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5 sampel salah: indeks 19, 263, 475, 110, 160.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Semuanya aktual TIDAK LULUS, tetapi diprediksi LULUS.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Fitur yang tersedia belum menangkap seluruh faktor kelulusan.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4297680"/>
            <a:ext cx="35204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45262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2647"/>
                </a:solidFill>
                <a:latin typeface="Aptos"/>
              </a:rPr>
              <a:t>Etika &amp; mitigasi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20" y="48920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Penghasilan_Ortu dan Jenis_Kelamin rawan bias.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Uji performa per kelompok.</a:t>
            </a:r>
          </a:p>
          <a:p>
            <a:pPr>
              <a:spcAft>
                <a:spcPts val="500"/>
              </a:spcAft>
              <a:defRPr sz="1100">
                <a:solidFill>
                  <a:srgbClr val="0F172A"/>
                </a:solidFill>
                <a:latin typeface="Aptos"/>
              </a:defRPr>
            </a:pPr>
            <a:r>
              <a:t>Sediakan pemeriksaan manusia dan mekanisme banding.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47104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Machine Learning Dasar  |  Universitas Bengkulu  |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891B2"/>
                </a:solidFill>
                <a:latin typeface="Aptos"/>
              </a:rPr>
              <a:t>04 — REKOMENDASI &amp; SIMULASI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F2647"/>
                </a:solidFill>
                <a:latin typeface="Aptos"/>
              </a:rPr>
              <a:t>Kesimpulan dan Rekomendasi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9844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Model dipakai sebagai alat bantu identifikasi, bukan penentu tunggal keputusan akademik.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120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37160" cy="196596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2647"/>
                </a:solidFill>
                <a:latin typeface="Aptos"/>
              </a:rPr>
              <a:t>Decision Tree max_depth=3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4297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F172A"/>
                </a:solidFill>
                <a:latin typeface="Aptos"/>
              </a:rPr>
              <a:t>Dipilih karena performanya paling seimbang dan struktur pohonnya mudah diinterpretasikan.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tos"/>
              </a:rPr>
              <a:t>Accuracy 90%  ·  Precision 92,5%
Recall 94,87%  ·  F1-Score 93,67%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5394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647"/>
                </a:solidFill>
                <a:latin typeface="Aptos"/>
              </a:rPr>
              <a:t>Simulasi mahasiswa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420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IPK 3,80  |  Kehadiran 50%  |  Jam belajar 4 jam/minggu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DT depth=3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97180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TIDAK LULUS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DT 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4612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TIDAK LULUS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Aptos"/>
              </a:rPr>
              <a:t>GaussianNB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2044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TIDAK LULUS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10881360" cy="1234440"/>
          </a:xfrm>
          <a:prstGeom prst="roundRect">
            <a:avLst/>
          </a:prstGeom>
          <a:solidFill>
            <a:srgbClr val="0F2647"/>
          </a:solidFill>
          <a:ln>
            <a:solidFill>
              <a:srgbClr val="0F2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98848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891B2"/>
                </a:solidFill>
                <a:latin typeface="Aptos"/>
              </a:rPr>
              <a:t>Pesan utama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2803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Model membantu memberikan indikasi awal risiko kelulusan. Keputusan akhir tetap memerlukan evaluasi akademik, konteks mahasiswa, dan pertimbangan manusia.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475569"/>
                </a:solidFill>
                <a:latin typeface="Aptos"/>
              </a:rPr>
              <a:t>Machine Learning Dasar  |  Universitas Bengkulu  | 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1052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47556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